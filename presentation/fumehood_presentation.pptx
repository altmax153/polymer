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TWA 평균</c:v>
                </c:pt>
              </c:strCache>
            </c:strRef>
          </c:tx>
          <c:spPr>
            <a:solidFill>
              <a:srgbClr val="1F3A5F"/>
            </a:solidFill>
          </c:spPr>
          <c:dLbls>
            <c:txPr>
              <a:bodyPr/>
              <a:lstStyle/>
              <a:p>
                <a:pPr>
                  <a:defRPr sz="10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아세톤</c:v>
                </c:pt>
                <c:pt idx="1">
                  <c:v>클로로포름</c:v>
                </c:pt>
                <c:pt idx="2">
                  <c:v>디클로로메탄</c:v>
                </c:pt>
                <c:pt idx="3">
                  <c:v>디에틸에테르</c:v>
                </c:pt>
                <c:pt idx="4">
                  <c:v>초산에틸</c:v>
                </c:pt>
                <c:pt idx="5">
                  <c:v>노말헥산</c:v>
                </c:pt>
                <c:pt idx="6">
                  <c:v>THF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7.38</c:v>
                </c:pt>
                <c:pt idx="1">
                  <c:v>1.12</c:v>
                </c:pt>
                <c:pt idx="2">
                  <c:v>1.92</c:v>
                </c:pt>
                <c:pt idx="3">
                  <c:v>1.09</c:v>
                </c:pt>
                <c:pt idx="4">
                  <c:v>0.45</c:v>
                </c:pt>
                <c:pt idx="5">
                  <c:v>1.18</c:v>
                </c:pt>
                <c:pt idx="6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STEL 평균</c:v>
                </c:pt>
              </c:strCache>
            </c:strRef>
          </c:tx>
          <c:spPr>
            <a:solidFill>
              <a:srgbClr val="E09F3E"/>
            </a:solidFill>
          </c:spPr>
          <c:dLbls>
            <c:txPr>
              <a:bodyPr/>
              <a:lstStyle/>
              <a:p>
                <a:pPr>
                  <a:defRPr sz="10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아세톤</c:v>
                </c:pt>
                <c:pt idx="1">
                  <c:v>클로로포름</c:v>
                </c:pt>
                <c:pt idx="2">
                  <c:v>디클로로메탄</c:v>
                </c:pt>
                <c:pt idx="3">
                  <c:v>디에틸에테르</c:v>
                </c:pt>
                <c:pt idx="4">
                  <c:v>초산에틸</c:v>
                </c:pt>
                <c:pt idx="5">
                  <c:v>노말헥산</c:v>
                </c:pt>
                <c:pt idx="6">
                  <c:v>THF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20.74</c:v>
                </c:pt>
                <c:pt idx="1">
                  <c:v>2.15</c:v>
                </c:pt>
                <c:pt idx="2">
                  <c:v>9.86</c:v>
                </c:pt>
                <c:pt idx="3">
                  <c:v>1.11</c:v>
                </c:pt>
                <c:pt idx="4">
                  <c:v>0.42</c:v>
                </c:pt>
                <c:pt idx="5">
                  <c:v>2.39</c:v>
                </c:pt>
                <c:pt idx="6">
                  <c:v>0.33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title>
          <c:tx>
            <c:rich>
              <a:bodyPr/>
              <a:lstStyle/>
              <a:p>
                <a:r>
                  <a:t>ppm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평균 제어풍속 (m/s)</c:v>
                </c:pt>
              </c:strCache>
            </c:strRef>
          </c:tx>
          <c:dPt>
            <c:idx val="0"/>
            <c:spPr>
              <a:solidFill>
                <a:srgbClr val="5F6B7A"/>
              </a:solidFill>
            </c:spPr>
          </c:dPt>
          <c:dPt>
            <c:idx val="1"/>
            <c:spPr>
              <a:solidFill>
                <a:srgbClr val="5F6B7A"/>
              </a:solidFill>
            </c:spPr>
          </c:dPt>
          <c:dPt>
            <c:idx val="2"/>
            <c:spPr>
              <a:solidFill>
                <a:srgbClr val="2A9D8F"/>
              </a:solidFill>
            </c:spPr>
          </c:dPt>
          <c:dLbls>
            <c:txPr>
              <a:bodyPr/>
              <a:lstStyle/>
              <a:p>
                <a:pPr>
                  <a:defRPr sz="1400" b="1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100% 개방</c:v>
                </c:pt>
                <c:pt idx="1">
                  <c:v>67% 개방</c:v>
                </c:pt>
                <c:pt idx="2">
                  <c:v>33% 개방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0.16</c:v>
                </c:pt>
                <c:pt idx="1">
                  <c:v>0.26</c:v>
                </c:pt>
                <c:pt idx="2">
                  <c:v>0.52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[0:15]</a:t>
            </a:r>
          </a:p>
          <a:p>
            <a:r>
              <a:t>안녕하세요. 오늘 소개할 논문은 2025년 1월 호서대학교에서 나온 박사학위논문입니다. 제목은 「대학 연구실에서 흄후드 제어풍속에 따른 유기화합물 노출에 관한 연구」입니다.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[0:15]</a:t>
            </a:r>
          </a:p>
          <a:p>
            <a:r>
              <a:t>발표 순서입니다. 연구 배경과 목적을 짚고, 논문의 두 연구를 차례로 봅니다. 연구 Ⅰ은 연구실 종사자의 실제 노출을 측정했고, 연구 Ⅱ는 흄후드 사용 조건을 바꿔 가며 실험했습니다. 이어서 저자의 결론을 정리하고, 마지막에는 그 결론이 데이터로 얼마나 뒷받침되는지 따져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</a:t>
            </a:r>
          </a:p>
          <a:p>
            <a:r>
              <a:t>먼저 연구실이 어떤 곳인지 보겠습니다. 논문에 따르면 국내 연구실은 5만 1,139개, 연구활동종사자는 96만 5,519명이고, 그중 대학이 연구실 수와 종사자 수 모두 가장 많습니다.</a:t>
            </a:r>
          </a:p>
          <a:p>
            <a:r>
              <a:t>연구실이 공장과 다른 점은 화학물질을 쓰는 방식입니다. 여러 종류를 조금씩, 짧은 시간에 몰아서 씁니다. 하루 종일 같은 물질에 노출되는 산업현장과는 노출 양상이 다를 수밖에 없고, 이 차이가 논문 전체의 출발점입니다.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</a:t>
            </a:r>
          </a:p>
          <a:p>
            <a:r>
              <a:t>논문이 제기한 문제는 두 가지입니다.</a:t>
            </a:r>
          </a:p>
          <a:p>
            <a:r>
              <a:t>하나는 평가 기준입니다. 지금의 노출 평가는 하루 8시간 평균인 TWA를 기준으로 하는데, 이건 산업현장에 맞춘 방식입니다. 짧게 몰아서 쓰는 연구실에 그대로 적용하면 노출이 실제보다 낮게 평가될 수 있습니다. 노출도평가를 얼마나 자주 해야 하는지도 명시되어 있지 않습니다.</a:t>
            </a:r>
          </a:p>
          <a:p>
            <a:r>
              <a:t>다른 하나는 흄후드입니다. 사용은 의무인데 관리하는 건 제어풍속 하나뿐이고, 어떻게 써야 하는지에 대한 기준은 없습니다.</a:t>
            </a:r>
          </a:p>
          <a:p>
            <a:r>
              <a:t>그래서 목적도 두 가지입니다. 연구실에 맞는 노출평가 방법을 찾는 것, 그리고 흄후드 사용기준을 제시하는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</a:t>
            </a:r>
          </a:p>
          <a:p>
            <a:r>
              <a:t>선행연구에서 이미 확인된 내용이 세 가지 있습니다. 대학 연구실의 노출은 다른 기관이나 산업현장보다 높았고, TWA만으로는 단시간 고농도 노출이 평균에 묻혀 과소평가된다는 지적도 이미 나왔습니다. 흄후드 성능이 새시 높이, 작업자, 내부 적재물에 따라 달라진다는 것도 알려져 있었습니다.</a:t>
            </a:r>
          </a:p>
          <a:p>
            <a:r>
              <a:t>그런데 흄후드 연구는 대부분 CFD, 즉 전산 시뮬레이션이었습니다. 작업자와 장애물을 넣고 실제로 측정한 연구는 부족했고, 이 논문은 바로 그 공백을 겨냥합니다.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[0:25]</a:t>
            </a:r>
          </a:p>
          <a:p>
            <a:r>
              <a:t>논문의 연구 절차는 네 단계입니다. 방향을 정하고, 연구실에서 노출을 측정하고, 흄후드 실험을 한 뒤, 개선방안을 제시합니다.</a:t>
            </a:r>
          </a:p>
          <a:p>
            <a:r>
              <a:t>마지막 단계를 기억해 주세요. 결론에 나오는 개선방안이 앞의 측정과 실험에서 실제로 나왔는지가 발표 후반부의 평가 기준이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</a:t>
            </a:r>
          </a:p>
          <a:p>
            <a:r>
              <a:t>두 연구를 나란히 놓아 보겠습니다. 연구 Ⅰ은 연구실 종사자가 실제로 얼마나 노출되는지, 그리고 TWA와 STEL 중 어떤 방식이 그 노출을 잘 잡아내는지를 묻습니다. 연구 Ⅱ는 흄후드를 어떻게 쓰느냐에 따라 제어풍속과 노출이 어떻게 달라지는지를 묻습니다.</a:t>
            </a:r>
          </a:p>
          <a:p>
            <a:r>
              <a:t>오른쪽 끝 줄이 각 연구에 대응하는 저자의 제언입니다. 연구 Ⅰ은 제언 ①로, 연구 Ⅱ는 제언 ②~④로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</a:t>
            </a:r>
          </a:p>
          <a:p>
            <a:r>
              <a:t>연구 Ⅰ의 방법입니다. 대전에 있는 대학 화학 연구실 네 곳에서 대학원생의 개인시료 61개를 모았습니다. 44개는 7시간 넘게 포집해 TWA를 구했고, 17개는 20분 넘게 포집해 STEL을 구했습니다. STEL은 일부 종사자만 측정했습니다.</a:t>
            </a:r>
          </a:p>
          <a:p>
            <a:r>
              <a:t>두 지표를 짚고 가겠습니다. TWA는 하루 8시간 동안의 평균 노출이고, STEL은 15분 동안의 평균 노출입니다. 같은 사람이라도 짧게 몰아서 노출되면 STEL은 높게, TWA는 낮게 나옵니다.</a:t>
            </a:r>
          </a:p>
          <a:p>
            <a:r>
              <a:t>분석 대상은 아세톤, 클로로포름, 디클로로메탄 등 유기화합물 8종입니다.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</a:t>
            </a:r>
          </a:p>
          <a:p>
            <a:r>
              <a:t>결과입니다. 8종 중 톨루엔을 뺀 7종이 검출됐고, 모두 노출기준 이하였습니다.</a:t>
            </a:r>
          </a:p>
          <a:p>
            <a:r>
              <a:t>그런데 저자가 무시할 수 없다고 본 수치가 있습니다. 발암성 물질인 클로로포름은 최대 5.84 ppm으로 기준의 58.4%, 디클로로메탄은 최대 25.45 ppm으로 기준의 50.9%였습니다. 저자는 유리기구를 세척할 때 노출된 것으로 추정합니다.</a:t>
            </a:r>
          </a:p>
          <a:p>
            <a:r>
              <a:t>두 물질은 CMR 물질에 해당합니다. 발암성, 생식세포 변이원성, 생식독성 물질을 묶어 부르는 말이고, 법적으로 특별관리물질입니다.</a:t>
            </a:r>
          </a:p>
          <a:p>
            <a:r>
              <a:t>여러 물질의 영향을 합친 혼합물질노출계수는 최대 0.41, 연구실별 평균은 0.08~0.12로 1 미만이었습니다.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</a:t>
            </a:r>
          </a:p>
          <a:p>
            <a:r>
              <a:t>TWA 평균과 STEL 평균을 비교한 그래프입니다. 디클로로메탄은 STEL이 TWA의 5.14배, 아세톤은 2.81배였습니다. 저자는 이 차이를 근거로 TWA만 쓰면 노출을 과소평가한다고 해석합니다.</a:t>
            </a:r>
          </a:p>
          <a:p>
            <a:r>
              <a:t>두 가지를 함께 봐 주세요. 초산에틸은 오히려 STEL이 더 낮았습니다. 그리고 클로로포름과 디클로로메탄은 고시에 STEL 기준값이 없습니다. 이 부분은 뒤에서 제언을 검토할 때 다시 꺼내겠습니다.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</a:t>
            </a:r>
          </a:p>
          <a:p>
            <a:r>
              <a:t>연구 Ⅱ로 넘어가기 전에 예비조사 결과를 보겠습니다. 논문에서는 앞부분에 나오지만, 연구 Ⅱ를 왜 했는지 보여 주는 자료라 이 자리로 옮겼습니다.</a:t>
            </a:r>
          </a:p>
          <a:p>
            <a:r>
              <a:t>조사한 흄후드는 44대, 배풍기는 17대였습니다. 배풍기 한 대가 흄후드 1.8~3대를 맡는 구조입니다. 새시를 끝까지 열었을 때 기준 풍속 0.4 m/s를 넘긴 흄후드는 한 대도 없었습니다. 실험 공간과 사무 공간도 나뉘어 있지 않았습니다.</a:t>
            </a:r>
          </a:p>
          <a:p>
            <a:r>
              <a:t>실험 물질로 아세톤을 쓴 이유는 원문에서 확인하지 못했습니다. 연구 Ⅰ에서 TWA와 STEL 평균이 가장 높은 물질이었다는 점만 말씀드립니다.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</a:t>
            </a:r>
          </a:p>
          <a:p>
            <a:r>
              <a:t>연구 Ⅱ의 장치입니다. 폭 약 1,500 mm 흄후드 한 대를 썼고, 개구면 1,550 × 750 mm를 가로 5칸, 세로 3칸, 모두 15개 격자로 나눴습니다. 위에서부터 A, B, C 구역입니다.</a:t>
            </a:r>
          </a:p>
          <a:p>
            <a:r>
              <a:t>격자마다 열선풍속계를 거치대에 고정하고 120초 동안 평균을 냈습니다. 이렇게 잰 개구면 풍속이 제어풍속입니다. 기준은 0.4 m/s 이상입니다.</a:t>
            </a:r>
          </a:p>
          <a:p>
            <a:r>
              <a:t>배풍기는 정속으로 돌렸습니다. 새시를 어떻게 열든 팬의 회전 속도는 같았다는 뜻이고, 이 점도 뒤에서 다시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</a:t>
            </a:r>
          </a:p>
          <a:p>
            <a:r>
              <a:t>실험 조건은 3 곱하기 4입니다. 새시를 100%, 67%, 33% 열고, 각각 아무것도 없는 기본 상태, 안에 상자를 둔 장애물 조건, 앞에 마네킹을 세운 작업자 조건, 둘 다 있는 조건을 측정했습니다. 마네킹은 키 175 cm이고 움직이지 않습니다.</a:t>
            </a:r>
          </a:p>
          <a:p>
            <a:r>
              <a:t>노출 측정은 1 L 비커에 아세톤이나 클로로포름 500 mL를 담아 새시 바로 안쪽인 0 cm와 10 cm 안쪽에 두고 했습니다. 센서는 높이 550 mm, 새시에서 75 mm 떨어진 곳, 대략 작업자의 호흡 위치를 겨냥했습니다. 30초 간격으로 다섯 번 재서 평균을 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</a:t>
            </a:r>
          </a:p>
          <a:p>
            <a:r>
              <a:t>새시 개방률에 따른 평균 제어풍속입니다. 기본 조건에서 100% 개방은 0.16, 67%는 0.26, 33%는 0.52 m/s였습니다. 기준 0.4 m/s를 넘긴 건 33% 개방뿐입니다.</a:t>
            </a:r>
          </a:p>
          <a:p>
            <a:r>
              <a:t>많이 열수록 위쪽은 빠르고 아래쪽은 느린 층이 생겼습니다.</a:t>
            </a:r>
          </a:p>
          <a:p>
            <a:r>
              <a:t>오른쪽 풍량도 봐 주세요. 0.19, 0.20, 0.20 CMS로 거의 같습니다. 배풍기가 정속이라 빨아들이는 공기의 양은 그대로인데, 입구가 좁아지니 속도만 빨라진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</a:t>
            </a:r>
          </a:p>
          <a:p>
            <a:r>
              <a:t>장애물과 작업자를 넣으면 어떻게 될까요. 평균 풍속은 거의 달라지지 않았습니다. 33% 개방에서 네 조건 모두 0.52~0.53 m/s입니다.</a:t>
            </a:r>
          </a:p>
          <a:p>
            <a:r>
              <a:t>차이는 최솟값과 최댓값에서 나타났습니다. 작업자가 서 있으면 풍속이 0 m/s인 정체 격자가 생겼고, 최솟값과 최댓값의 간격이 크게 벌어졌습니다. 33% 개방에서도 장애물과 작업자가 함께 있으면 최솟값이 0.01 m/s까지 떨어졌습니다. 발연기로 보면 작업자 앞 중앙부에 와류가 생겼습니다. 와류는 공기가 빨려 들어가지 않고 제자리에서 맴도는 흐름입니다.</a:t>
            </a:r>
          </a:p>
          <a:p>
            <a:r>
              <a:t>저자는 이를 두고 내부 장애물보다 외부 작업자의 영향이 더 크다고 해석합니다. 평균만 봐서는 위험이 드러나지 않는다는 점이 이 슬라이드의 요점입니다.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</a:t>
            </a:r>
          </a:p>
          <a:p>
            <a:r>
              <a:t>이 발표에서 가장 중요한 결과입니다. 표는 비커 위치 0 cm와 10 cm에서 잰 아세톤 농도이고, 색이 진할수록 높습니다.</a:t>
            </a:r>
          </a:p>
          <a:p>
            <a:r>
              <a:t>최고값은 100% 개방에 장애물과 작업자가 함께 있을 때 38.42 ppm입니다. 같은 조건에서 비커를 10 cm 안쪽으로 옮기면 27.24 ppm으로 내려갑니다. 새시를 33%로 내리면 0.38 ppm까지 떨어집니다.</a:t>
            </a:r>
          </a:p>
          <a:p>
            <a:r>
              <a:t>그런데 33% 개방은 평균 0.53 m/s로 기준을 충족한 조건입니다. 그런데도 0.38 ppm이 검출됐습니다. 기준 풍속을 지켜도 노출될 수 있다는 것, 이게 이 논문의 핵심 발견입니다.</a:t>
            </a:r>
          </a:p>
          <a:p>
            <a:r>
              <a:t>풍속이 비슷해도 작업자 조건이 장애물 조건보다 5.5배 높았고, 저자는 새시 부근 와류를 원인으로 추정합니다. 아세톤과 클로로포름의 농도 비율은 0.76~1.34로 들쭉날쭉해서, 분자량보다 기류가 노출을 좌우한다고 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</a:t>
            </a:r>
          </a:p>
          <a:p>
            <a:r>
              <a:t>저자의 제언은 네 가지입니다.</a:t>
            </a:r>
          </a:p>
          <a:p>
            <a:r>
              <a:t>첫째, TWA와 STEL을 함께 측정하고 CMR 물질은 STEL 측정을 의무화한다.</a:t>
            </a:r>
          </a:p>
          <a:p>
            <a:r>
              <a:t>둘째, 새시 앞에 충분한 공간을 두고 국가 차원의 흄후드 사용 SOP를 만든다.</a:t>
            </a:r>
          </a:p>
          <a:p>
            <a:r>
              <a:t>셋째, 배풍기에 인버터를 달아 새시를 얼마나 열든 제어풍속을 유지한다.</a:t>
            </a:r>
          </a:p>
          <a:p>
            <a:r>
              <a:t>넷째, 화학물질을 흄후드 안쪽 깊이 두고 쓰며 주변 이동으로 생기는 외부 와류를 막을 공간을 확보한다. 영문 초록에는 안쪽에 두거나 새시를 최대한 내리라고 쓰여 있습니다.</a:t>
            </a:r>
          </a:p>
          <a:p>
            <a:r>
              <a:t>최종 목표는 연구실 특성을 반영한 노출평가 기준과 흄후드 설치·사용 기준을 만드는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</a:t>
            </a:r>
          </a:p>
          <a:p>
            <a:r>
              <a:t>여기서부터는 제 평가입니다. 제언 네 개가 실험 데이터로 뒷받침되는지 따져 봤습니다.</a:t>
            </a:r>
          </a:p>
          <a:p>
            <a:r>
              <a:t>결론부터 말씀드리면 데이터로 직접 지지되는 건 ④번 하나입니다. 안쪽에 두면 38.42에서 27.24 ppm으로, 새시를 내리면 0.38 ppm으로 떨어졌습니다. ①번은 STEL이 높게 나왔다는 데이터는 있지만, 병행하자는 결론까지 가는 비교 설계가 없습니다. ②번과 ③번은 그 내용을 직접 실험하지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[0:55]</a:t>
            </a:r>
          </a:p>
          <a:p>
            <a:r>
              <a:t>나머지 세 제언의 문제를 하나씩 보겠습니다.</a:t>
            </a:r>
          </a:p>
          <a:p>
            <a:r>
              <a:t>①번입니다. 앞에서 복선으로 남겨 둔 부분인데, 클로로포름과 디클로로메탄은 고시에 STEL 기준값이 없습니다. 기준이 없으면 STEL을 재도 초과 여부를 판정할 수 없으니, CMR 물질 STEL 의무화는 그대로는 작동하지 않습니다. STEL 포집 시간도 기준인 15분이 아니라 20분이었고, 초산에틸은 STEL이 오히려 낮았습니다.</a:t>
            </a:r>
          </a:p>
          <a:p>
            <a:r>
              <a:t>②번은 타인 통행과 교차기류를 막자는 제언인데, 실험한 건 작업자 본인이 서 있는 영향이었습니다. 제언과 실험이 다른 문제를 다룹니다.</a:t>
            </a:r>
          </a:p>
          <a:p>
            <a:r>
              <a:t>③번 인버터는 실험하지 않았습니다. 논문 수치로 계산해 보면 100% 개방에서 0.4 m/s를 유지하려면 약 0.47 CMS, 지금의 2.4배 풍량이 필요합니다. 논문이 직접 지적한 급기 부족과 에너지 문제와 부딪힙니다. 게다가 0.52 m/s인 33% 개방에서도 노출이 있었으니, 풍속을 지키는 것만으로는 부족합니다.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</a:t>
            </a:r>
          </a:p>
          <a:p>
            <a:r>
              <a:t>방법론에도 한계가 있습니다. 흄후드 한 대에서 조건마다 한 번씩만 측정했고 통계 검정이 없어서 일반화하기 어렵습니다. 마네킹은 움직이지도, 손을 넣지도 않았고, 비커는 자연증발만 했습니다. 실제로 가열하거나 교반하면 상황이 더 나쁠 수 있는데, 이 점은 저자도 언급합니다. 열선풍속계로는 역류 방향을 구분할 수 없다는 한계도 저자가 직접 밝혔습니다.</a:t>
            </a:r>
          </a:p>
          <a:p>
            <a:r>
              <a:t>서술 오류도 몇 군데 있습니다. 가장 큰 건 노말헥산입니다. 고시 기준은 TWA 50 ppm인데 Table 14에는 500 ppm으로 적혀 있어서, 기준 대비 0.95%로 평가됐습니다. 올바른 기준으로 계산하면 약 19%입니다. 이 밖에 수치와 표 번호가 본문과 맞지 않는 곳이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</a:t>
            </a:r>
          </a:p>
          <a:p>
            <a:r>
              <a:t>정리하겠습니다. 이 논문은 실측으로 기준 풍속을 충족해도 노출될 수 있다는 점을 보여 줬습니다. 작업자와 장애물을 넣고 직접 잰 데이터라는 점에서 의의가 있습니다.</a:t>
            </a:r>
          </a:p>
          <a:p>
            <a:r>
              <a:t>다만 제언 네 개 중 실험 데이터가 직접 뒷받침하는 건 안쪽 취급과 새시 하강뿐입니다. TWA·STEL 병행, 공간 확보, 인버터는 비교 설계나 검증 실험 없이 제시됐습니다.</a:t>
            </a:r>
          </a:p>
          <a:p>
            <a:r>
              <a:t>후속 연구로는 교차기류와 움직이는 작업자를 넣은 실험, 인버터 조건 비교, 여러 대의 흄후드에서 반복 측정하는 연구가 필요해 보입니다.</a:t>
            </a:r>
          </a:p>
          <a:p>
            <a:r>
              <a:t>들어 주셔서 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09728" cy="20116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7373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맑은 고딕"/>
              </a:rPr>
              <a:t>대학 연구실에서 흄후드 제어풍속에 따른
유기화합물 노출에 관한 연구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1546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8D3E0"/>
                </a:solidFill>
                <a:latin typeface="맑은 고딕"/>
              </a:rPr>
              <a:t>A study on exposure to organic compounds according to controlled face velocity in a fume hood in a university laboratory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2976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임현종 (지도교수 조규선) · 호서대학교 일반대학원 안전행정공학과 박사학위논문 · 2025년 1월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8D3E0"/>
                </a:solidFill>
                <a:latin typeface="맑은 고딕"/>
              </a:rPr>
              <a:t>발표자: [이름]  |  [수업명]  |  [발표일]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목차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417320"/>
            <a:ext cx="82296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435608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22B36"/>
                </a:solidFill>
                <a:latin typeface="맑은 고딕"/>
              </a:rPr>
              <a:t>연구 배경과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80136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맑은 고딕"/>
              </a:rPr>
              <a:t>연구실의 특성, 문제 제기, 연구 공백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359152"/>
            <a:ext cx="82296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37744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22B36"/>
                </a:solidFill>
                <a:latin typeface="맑은 고딕"/>
              </a:rPr>
              <a:t>연구 Ⅰ  작업환경측정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7432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맑은 고딕"/>
              </a:rPr>
              <a:t>대학 연구실 4곳 · 개인시료 61개 · TWA vs STEL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300984"/>
            <a:ext cx="82296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319272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22B36"/>
                </a:solidFill>
                <a:latin typeface="맑은 고딕"/>
              </a:rPr>
              <a:t>연구 Ⅱ  흄후드 실험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685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맑은 고딕"/>
              </a:rPr>
              <a:t>새시 개방률 × 장애물·작업자 · 제어풍속과 아세톤 노출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242816"/>
            <a:ext cx="82296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261103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22B36"/>
                </a:solidFill>
                <a:latin typeface="맑은 고딕"/>
              </a:rPr>
              <a:t>결론과 제언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62686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맑은 고딕"/>
              </a:rPr>
              <a:t>저자가 제시한 개선방안 4가지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5184648"/>
            <a:ext cx="822960" cy="685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5202936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22B36"/>
                </a:solidFill>
                <a:latin typeface="맑은 고딕"/>
              </a:rPr>
              <a:t>비판적 고찰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55686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맑은 고딕"/>
              </a:rPr>
              <a:t>제언과 근거 데이터 대조, 방법론 한계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연구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84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맑은 고딕"/>
              </a:rPr>
              <a:t>배경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108960" cy="11887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맑은 고딕"/>
              </a:rPr>
              <a:t>51,139개</a:t>
            </a:r>
          </a:p>
          <a:p>
            <a:pPr algn="ctr"/>
            <a:r>
              <a:rPr sz="1400" b="0">
                <a:solidFill>
                  <a:srgbClr val="5F6B7A"/>
                </a:solidFill>
                <a:latin typeface="맑은 고딕"/>
              </a:rPr>
              <a:t>국내 연구실 수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3108960" cy="11887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맑은 고딕"/>
              </a:rPr>
              <a:t>965,519명</a:t>
            </a:r>
          </a:p>
          <a:p>
            <a:pPr algn="ctr"/>
            <a:r>
              <a:rPr sz="1400" b="0">
                <a:solidFill>
                  <a:srgbClr val="5F6B7A"/>
                </a:solidFill>
                <a:latin typeface="맑은 고딕"/>
              </a:rPr>
              <a:t>연구활동종사자 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B36"/>
                </a:solidFill>
                <a:latin typeface="맑은 고딕"/>
              </a:rPr>
              <a:t>→ 연구실·종사자 수 모두 대학이 가장 많음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46304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9D8F"/>
                </a:solidFill>
                <a:latin typeface="맑은 고딕"/>
              </a:rPr>
              <a:t>연구실 화학물질 취급 특성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920240"/>
            <a:ext cx="2743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F3A5F"/>
                </a:solidFill>
                <a:latin typeface="맑은 고딕"/>
              </a:rPr>
              <a:t>다품종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697480"/>
            <a:ext cx="2743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F3A5F"/>
                </a:solidFill>
                <a:latin typeface="맑은 고딕"/>
              </a:rPr>
              <a:t>소량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3474720"/>
            <a:ext cx="2743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F3A5F"/>
                </a:solidFill>
                <a:latin typeface="맑은 고딕"/>
              </a:rPr>
              <a:t>단시간 집중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371600"/>
            <a:ext cx="4297680" cy="4480560"/>
          </a:xfrm>
          <a:prstGeom prst="rect">
            <a:avLst/>
          </a:prstGeom>
          <a:solidFill>
            <a:srgbClr val="F7F9FB"/>
          </a:solidFill>
          <a:ln w="19050">
            <a:solidFill>
              <a:srgbClr val="5F6B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5F6B7A"/>
                </a:solidFill>
                <a:latin typeface="맑은 고딕"/>
              </a:rPr>
              <a:t>이미지 삽입 위치</a:t>
            </a:r>
          </a:p>
          <a:p>
            <a:pPr algn="ctr"/>
            <a:r>
              <a:rPr sz="1100" b="0">
                <a:solidFill>
                  <a:srgbClr val="5F6B7A"/>
                </a:solidFill>
                <a:latin typeface="맑은 고딕"/>
              </a:rPr>
              <a:t>#1 대학 화학 연구실 전경
(image_prompts.md 참조)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</a:rPr>
              <a:t>[논문] 연구실 수·종사자 수는 논문 인용 통계 (기준 연도: 확인 불가, 원문 확인 필요)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문제 제기와 연구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84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맑은 고딕"/>
              </a:rPr>
              <a:t>배경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12064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문제 1 · 노출 평가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937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맑은 고딕"/>
              </a:rPr>
              <a:t>• 산업현장 기준(TWA)을 그대로 적용 → 단시간 고농도 노출이 평균에 묻혀 과소평가될 수 있음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맑은 고딕"/>
              </a:rPr>
              <a:t>• 연구실 노출도평가 주기 미명시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39"/>
            <a:ext cx="512064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문제 2 · 흄후드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4937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맑은 고딕"/>
              </a:rPr>
              <a:t>• 사용은 의무지만 제어풍속만 관리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맑은 고딕"/>
              </a:rPr>
              <a:t>• 사용기준 부재 → 장애물·와류로 오염공기가 유출될 수 있음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0" y="3200400"/>
            <a:ext cx="731520" cy="0"/>
          </a:xfrm>
          <a:prstGeom prst="line">
            <a:avLst/>
          </a:prstGeom>
          <a:ln w="38100">
            <a:solidFill>
              <a:srgbClr val="2A9D8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132320" y="1417320"/>
            <a:ext cx="4480560" cy="5029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연구 목적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2103120"/>
            <a:ext cx="4480560" cy="14630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A9D8F"/>
                </a:solidFill>
                <a:latin typeface="맑은 고딕"/>
              </a:rPr>
              <a:t>①</a:t>
            </a:r>
          </a:p>
          <a:p>
            <a:pPr algn="ctr"/>
            <a:r>
              <a:rPr sz="1500" b="0">
                <a:solidFill>
                  <a:srgbClr val="222B36"/>
                </a:solidFill>
                <a:latin typeface="맑은 고딕"/>
              </a:rPr>
              <a:t>연구실에 맞는 노출평가 방법
(TWA vs STEL 비교)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3749039"/>
            <a:ext cx="4480560" cy="14630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A9D8F"/>
                </a:solidFill>
                <a:latin typeface="맑은 고딕"/>
              </a:rPr>
              <a:t>②</a:t>
            </a:r>
          </a:p>
          <a:p>
            <a:pPr algn="ctr"/>
            <a:r>
              <a:rPr sz="1500" b="0">
                <a:solidFill>
                  <a:srgbClr val="222B36"/>
                </a:solidFill>
                <a:latin typeface="맑은 고딕"/>
              </a:rPr>
              <a:t>흄후드 노출을 줄이는 사용기준 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</a:rPr>
              <a:t>[논문]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선행연구와 연구 공백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84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맑은 고딕"/>
              </a:rPr>
              <a:t>배경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" y="1417320"/>
            <a:ext cx="6583680" cy="7772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222B36"/>
                </a:solidFill>
                <a:latin typeface="맑은 고딕"/>
              </a:rPr>
              <a:t>대학 연구실 노출이 타 기관·산업현장보다 높음</a:t>
            </a:r>
          </a:p>
          <a:p>
            <a:pPr algn="l"/>
            <a:r>
              <a:rPr sz="1200" b="0">
                <a:solidFill>
                  <a:srgbClr val="5F6B7A"/>
                </a:solidFill>
                <a:latin typeface="맑은 고딕"/>
              </a:rPr>
              <a:t>하주현 2009, 황제규 2020, 심상효 2021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73152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2377440"/>
            <a:ext cx="6583680" cy="7772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222B36"/>
                </a:solidFill>
                <a:latin typeface="맑은 고딕"/>
              </a:rPr>
              <a:t>TWA만으로는 단시간 고농도 노출이 상쇄 → 과소평가</a:t>
            </a:r>
          </a:p>
          <a:p>
            <a:pPr algn="l"/>
            <a:r>
              <a:rPr sz="1200" b="0">
                <a:solidFill>
                  <a:srgbClr val="5F6B7A"/>
                </a:solidFill>
                <a:latin typeface="맑은 고딕"/>
              </a:rPr>
              <a:t>변혜정 2011, 최영은 2019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73152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" y="3337560"/>
            <a:ext cx="6583680" cy="7772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222B36"/>
                </a:solidFill>
                <a:latin typeface="맑은 고딕"/>
              </a:rPr>
              <a:t>흄후드 성능은 새시 높이·작업자·내부 적재물에 좌우</a:t>
            </a:r>
          </a:p>
          <a:p>
            <a:pPr algn="l"/>
            <a:r>
              <a:rPr sz="1200" b="0">
                <a:solidFill>
                  <a:srgbClr val="5F6B7A"/>
                </a:solidFill>
                <a:latin typeface="맑은 고딕"/>
              </a:rPr>
              <a:t>Ahn 2008, Tseng 2006, Shuhara 2015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417320"/>
            <a:ext cx="3840480" cy="2697480"/>
          </a:xfrm>
          <a:prstGeom prst="rect">
            <a:avLst/>
          </a:prstGeom>
          <a:solidFill>
            <a:srgbClr val="FFF6E5"/>
          </a:solidFill>
          <a:ln w="1905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C0392B"/>
                </a:solidFill>
                <a:latin typeface="맑은 고딕"/>
              </a:rPr>
              <a:t>연구 공백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맑은 고딕"/>
              </a:rPr>
              <a:t>흄후드 연구는 CFD(전산 시뮬레이션) 위주</a:t>
            </a:r>
          </a:p>
          <a:p>
            <a:pPr algn="ctr"/>
            <a:r>
              <a:rPr sz="1600" b="1">
                <a:solidFill>
                  <a:srgbClr val="222B36"/>
                </a:solidFill>
                <a:latin typeface="맑은 고딕"/>
              </a:rPr>
              <a:t>작업자·장애물을 반영한
실측 연구 부족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480560"/>
            <a:ext cx="1088136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이 논문의 위치  ▶  대학 연구실 실측(연구 Ⅰ) + 작업자·장애물을 넣은 흄후드 실측(연구 Ⅱ)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</a:rPr>
              <a:t>[논문]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연구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84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맑은 고딕"/>
              </a:rPr>
              <a:t>배경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2331720" cy="14630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연구 방향 설정
(문헌·법령 검토)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2926080"/>
            <a:ext cx="411479" cy="0"/>
          </a:xfrm>
          <a:prstGeom prst="line">
            <a:avLst/>
          </a:prstGeom>
          <a:ln w="3175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66160" y="2194560"/>
            <a:ext cx="2331720" cy="14630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연구 Ⅰ
작업환경측정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2926080"/>
            <a:ext cx="411480" cy="0"/>
          </a:xfrm>
          <a:prstGeom prst="line">
            <a:avLst/>
          </a:prstGeom>
          <a:ln w="3175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0" y="2194560"/>
            <a:ext cx="2331720" cy="14630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연구 Ⅱ
흄후드 실험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2926080"/>
            <a:ext cx="411480" cy="0"/>
          </a:xfrm>
          <a:prstGeom prst="line">
            <a:avLst/>
          </a:prstGeom>
          <a:ln w="3175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235440" y="2194560"/>
            <a:ext cx="2331720" cy="146304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개선방안 제시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3931920"/>
            <a:ext cx="2331720" cy="914400"/>
          </a:xfrm>
          <a:prstGeom prst="rect">
            <a:avLst/>
          </a:prstGeom>
          <a:solidFill>
            <a:srgbClr val="FFF6E5"/>
          </a:solidFill>
          <a:ln w="1905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B36"/>
                </a:solidFill>
                <a:latin typeface="맑은 고딕"/>
              </a:rPr>
              <a:t>★ 비판적 고찰의 기준점
제언 ↔ 실험 근거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</a:rPr>
              <a:t>[논문] Fig. 3을 재구성. 1단계 세부 명칭은 확인 불가(원문 대조 필요)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두 연구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84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맑은 고딕"/>
              </a:rPr>
              <a:t>배경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480560"/>
                <a:gridCol w="4480560"/>
              </a:tblGrid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연구 Ⅰ  작업환경측정 (Ⅲ장)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연구 Ⅱ  흄후드 실험 (Ⅳ장)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B36"/>
                          </a:solidFill>
                          <a:latin typeface="맑은 고딕"/>
                        </a:rPr>
                        <a:t>핵심 질문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B36"/>
                          </a:solidFill>
                          <a:latin typeface="맑은 고딕"/>
                        </a:rPr>
                        <a:t>연구실 종사자의 실제 노출 수준은?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222B36"/>
                          </a:solidFill>
                          <a:latin typeface="맑은 고딕"/>
                        </a:rPr>
                        <a:t>TWA와 STEL 중 무엇이 적합한가?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B36"/>
                          </a:solidFill>
                          <a:latin typeface="맑은 고딕"/>
                        </a:rPr>
                        <a:t>흄후드 사용 조건에 따라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222B36"/>
                          </a:solidFill>
                          <a:latin typeface="맑은 고딕"/>
                        </a:rPr>
                        <a:t>제어풍속과 노출은 어떻게 달라지나?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B36"/>
                          </a:solidFill>
                          <a:latin typeface="맑은 고딕"/>
                        </a:rPr>
                        <a:t>대상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B36"/>
                          </a:solidFill>
                          <a:latin typeface="맑은 고딕"/>
                        </a:rPr>
                        <a:t>대학 화학 연구실 4곳(A~D)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222B36"/>
                          </a:solidFill>
                          <a:latin typeface="맑은 고딕"/>
                        </a:rPr>
                        <a:t>유기화합물 8종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B36"/>
                          </a:solidFill>
                          <a:latin typeface="맑은 고딕"/>
                        </a:rPr>
                        <a:t>흄후드 1대 (폭 약 1,500 mm)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B36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B36"/>
                          </a:solidFill>
                          <a:latin typeface="맑은 고딕"/>
                        </a:rPr>
                        <a:t>TWA·STEL 농도(ppm)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222B36"/>
                          </a:solidFill>
                          <a:latin typeface="맑은 고딕"/>
                        </a:rPr>
                        <a:t>혼합물질노출계수(EM)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B36"/>
                          </a:solidFill>
                          <a:latin typeface="맑은 고딕"/>
                        </a:rPr>
                        <a:t>제어풍속(m/s), 아세톤 농도(ppm)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B36"/>
                          </a:solidFill>
                          <a:latin typeface="맑은 고딕"/>
                        </a:rPr>
                        <a:t>대응 제언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B36"/>
                          </a:solidFill>
                          <a:latin typeface="맑은 고딕"/>
                        </a:rPr>
                        <a:t>① TWA·STEL 병행, CMR 물질 STEL 의무화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B36"/>
                          </a:solidFill>
                          <a:latin typeface="맑은 고딕"/>
                        </a:rPr>
                        <a:t>② 전면 공간·SOP  ③ 인버터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222B36"/>
                          </a:solidFill>
                          <a:latin typeface="맑은 고딕"/>
                        </a:rPr>
                        <a:t>④ 안쪽 취급·새시 하강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</a:rPr>
              <a:t>[논문]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연구 Ⅰ 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84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맑은 고딕"/>
              </a:rPr>
              <a:t>연구 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0350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9D8F"/>
                </a:solidFill>
                <a:latin typeface="맑은 고딕"/>
              </a:rPr>
              <a:t>대상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맑은 고딕"/>
              </a:rPr>
              <a:t>대전 소재 대학 화학 연구실 4곳(A~D)의 대학원생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A9D8F"/>
                </a:solidFill>
                <a:latin typeface="맑은 고딕"/>
              </a:rPr>
              <a:t>분석 물질 (8종)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맑은 고딕"/>
              </a:rPr>
              <a:t>아세톤, 클로로포름, 디클로로메탄, 디에틸에테르, 초산에틸, 노말헥산, THF, 톨루엔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A9D8F"/>
                </a:solidFill>
                <a:latin typeface="맑은 고딕"/>
              </a:rPr>
              <a:t>시료와 분석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맑은 고딕"/>
              </a:rPr>
              <a:t>활성탄관(SKC 226-01) + 개인포집펌프 0.03 L/min → CS₂ 탈착 → GC-FID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맑은 고딕"/>
              </a:rPr>
              <a:t>혼합물질노출계수(EM)는 TWA 측정값으로만 산출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325880"/>
            <a:ext cx="2194560" cy="13716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맑은 고딕"/>
              </a:rPr>
              <a:t>61개</a:t>
            </a:r>
          </a:p>
          <a:p>
            <a:pPr algn="ctr"/>
            <a:r>
              <a:rPr sz="1300" b="0">
                <a:solidFill>
                  <a:srgbClr val="5F6B7A"/>
                </a:solidFill>
                <a:latin typeface="맑은 고딕"/>
              </a:rPr>
              <a:t>개인시료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325880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3A5F"/>
                </a:solidFill>
                <a:latin typeface="맑은 고딕"/>
              </a:rPr>
              <a:t>TWA 44개 · 7시간 이상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0" y="2057400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A9D8F"/>
                </a:solidFill>
                <a:latin typeface="맑은 고딕"/>
              </a:rPr>
              <a:t>STEL 17개 · 20분 이상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3017520"/>
            <a:ext cx="73152" cy="13258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14032" y="3017520"/>
            <a:ext cx="4498848" cy="132588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2A9D8F"/>
                </a:solidFill>
                <a:latin typeface="맑은 고딕"/>
              </a:rPr>
              <a:t>TWA  시간가중평균노출기준</a:t>
            </a:r>
          </a:p>
          <a:p>
            <a:pPr algn="l"/>
            <a:r>
              <a:rPr sz="1200" b="0">
                <a:solidFill>
                  <a:srgbClr val="222B36"/>
                </a:solidFill>
                <a:latin typeface="맑은 고딕"/>
              </a:rPr>
              <a:t>1일 8시간 작업 기준. 측정치 × 발생시간 ÷ 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4480560"/>
            <a:ext cx="73152" cy="1600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14032" y="4480560"/>
            <a:ext cx="4498848" cy="16002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2A9D8F"/>
                </a:solidFill>
                <a:latin typeface="맑은 고딕"/>
              </a:rPr>
              <a:t>STEL  단시간노출기준</a:t>
            </a:r>
          </a:p>
          <a:p>
            <a:pPr algn="l"/>
            <a:r>
              <a:rPr sz="1200" b="0">
                <a:solidFill>
                  <a:srgbClr val="222B36"/>
                </a:solidFill>
                <a:latin typeface="맑은 고딕"/>
              </a:rPr>
              <a:t>15분간의 시간가중평균 노출값. TWA 초과~STEL 이하 노출은 1회 15분 미만, 1일 4회 이하, 간격 60분 이상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</a:rPr>
              <a:t>[논문]  용어 정의: 화학물질 및 물리적 인자의 노출기준(고용노동부 고시 제2020-48호) 제2조 — 이후 개정 여부 확인 불가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연구 Ⅰ  결과 ① 노출 수준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84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맑은 고딕"/>
              </a:rPr>
              <a:t>연구 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881360" cy="5486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22B36"/>
                </a:solidFill>
                <a:latin typeface="맑은 고딕"/>
              </a:rPr>
              <a:t>7종 검출 (톨루엔 불검출) — 모두 노출기준 이하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29260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5F6B7A"/>
                </a:solidFill>
                <a:latin typeface="맑은 고딕"/>
              </a:rPr>
              <a:t>클로로포름 (발암성)</a:t>
            </a:r>
          </a:p>
          <a:p>
            <a:pPr algn="ctr"/>
            <a:r>
              <a:rPr sz="3000" b="1">
                <a:solidFill>
                  <a:srgbClr val="C0392B"/>
                </a:solidFill>
                <a:latin typeface="맑은 고딕"/>
              </a:rPr>
              <a:t>기준의 58.4%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맑은 고딕"/>
              </a:rPr>
              <a:t>최대 5.84 ppm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148840"/>
            <a:ext cx="29260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5F6B7A"/>
                </a:solidFill>
                <a:latin typeface="맑은 고딕"/>
              </a:rPr>
              <a:t>디클로로메탄 (발암성)</a:t>
            </a:r>
          </a:p>
          <a:p>
            <a:pPr algn="ctr"/>
            <a:r>
              <a:rPr sz="3000" b="1">
                <a:solidFill>
                  <a:srgbClr val="C0392B"/>
                </a:solidFill>
                <a:latin typeface="맑은 고딕"/>
              </a:rPr>
              <a:t>기준의 50.9%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맑은 고딕"/>
              </a:rPr>
              <a:t>최대 25.45 ppm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2B36"/>
                </a:solidFill>
                <a:latin typeface="맑은 고딕"/>
              </a:rPr>
              <a:t>→ 저자 추정: 유리기구 세척 시 노출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2148840"/>
            <a:ext cx="43891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5F6B7A"/>
                </a:solidFill>
                <a:latin typeface="맑은 고딕"/>
              </a:rPr>
              <a:t>혼합물질노출계수(EM)</a:t>
            </a:r>
          </a:p>
          <a:p>
            <a:pPr algn="ctr"/>
            <a:r>
              <a:rPr sz="2800" b="1">
                <a:solidFill>
                  <a:srgbClr val="1F3A5F"/>
                </a:solidFill>
                <a:latin typeface="맑은 고딕"/>
              </a:rPr>
              <a:t>최대 0.41</a:t>
            </a:r>
          </a:p>
          <a:p>
            <a:pPr algn="ctr"/>
            <a:r>
              <a:rPr sz="1200" b="0">
                <a:solidFill>
                  <a:srgbClr val="222B36"/>
                </a:solidFill>
                <a:latin typeface="맑은 고딕"/>
              </a:rPr>
              <a:t>D 연구실 5번 시료 · 연구실별 평균 0.08~0.12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937760"/>
            <a:ext cx="73152" cy="1005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" y="4937760"/>
            <a:ext cx="10808208" cy="10058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2A9D8F"/>
                </a:solidFill>
                <a:latin typeface="맑은 고딕"/>
              </a:rPr>
              <a:t>CMR 물질</a:t>
            </a:r>
          </a:p>
          <a:p>
            <a:pPr algn="l"/>
            <a:r>
              <a:rPr sz="1200" b="0">
                <a:solidFill>
                  <a:srgbClr val="222B36"/>
                </a:solidFill>
                <a:latin typeface="맑은 고딕"/>
              </a:rPr>
              <a:t>발암성(Carcinogenic)·생식세포 변이원성(Mutagenic)·생식독성(Reproductive toxic) 물질. 산업안전보건기준에 관한 규칙상 특별관리물질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</a:rPr>
              <a:t>[논문]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연구 Ⅰ  결과 ② TWA vs STEL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84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맑은 고딕"/>
              </a:rPr>
              <a:t>연구 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10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280160"/>
          <a:ext cx="758952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0" y="1325880"/>
          <a:ext cx="3200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64592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물질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STEL/TWA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B36"/>
                          </a:solidFill>
                          <a:latin typeface="맑은 고딕"/>
                        </a:rPr>
                        <a:t>디클로로메탄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맑은 고딕"/>
                        </a:rPr>
                        <a:t>5.14배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B36"/>
                          </a:solidFill>
                          <a:latin typeface="맑은 고딕"/>
                        </a:rPr>
                        <a:t>아세톤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B36"/>
                          </a:solidFill>
                          <a:latin typeface="맑은 고딕"/>
                        </a:rPr>
                        <a:t>2.81배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B36"/>
                          </a:solidFill>
                          <a:latin typeface="맑은 고딕"/>
                        </a:rPr>
                        <a:t>노말헥산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B36"/>
                          </a:solidFill>
                          <a:latin typeface="맑은 고딕"/>
                        </a:rPr>
                        <a:t>2.03배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B36"/>
                          </a:solidFill>
                          <a:latin typeface="맑은 고딕"/>
                        </a:rPr>
                        <a:t>클로로포름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B36"/>
                          </a:solidFill>
                          <a:latin typeface="맑은 고딕"/>
                        </a:rPr>
                        <a:t>1.92배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B36"/>
                          </a:solidFill>
                          <a:latin typeface="맑은 고딕"/>
                        </a:rPr>
                        <a:t>THF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B36"/>
                          </a:solidFill>
                          <a:latin typeface="맑은 고딕"/>
                        </a:rPr>
                        <a:t>1.5배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B36"/>
                          </a:solidFill>
                          <a:latin typeface="맑은 고딕"/>
                        </a:rPr>
                        <a:t>디에틸에테르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B36"/>
                          </a:solidFill>
                          <a:latin typeface="맑은 고딕"/>
                        </a:rPr>
                        <a:t>1.02배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B36"/>
                          </a:solidFill>
                          <a:latin typeface="맑은 고딕"/>
                        </a:rPr>
                        <a:t>초산에틸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F6B7A"/>
                          </a:solidFill>
                          <a:latin typeface="맑은 고딕"/>
                        </a:rPr>
                        <a:t>STEL이 더 낮음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412480" y="4572000"/>
            <a:ext cx="3200400" cy="1234440"/>
          </a:xfrm>
          <a:prstGeom prst="rect">
            <a:avLst/>
          </a:prstGeom>
          <a:solidFill>
            <a:srgbClr val="FFF6E5"/>
          </a:solidFill>
          <a:ln w="1905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09F3E"/>
                </a:solidFill>
                <a:latin typeface="맑은 고딕"/>
              </a:rPr>
              <a:t>복선</a:t>
            </a:r>
          </a:p>
          <a:p>
            <a:pPr algn="ctr"/>
            <a:r>
              <a:rPr sz="1200" b="0">
                <a:solidFill>
                  <a:srgbClr val="222B36"/>
                </a:solidFill>
                <a:latin typeface="맑은 고딕"/>
              </a:rPr>
              <a:t>클로로포름·디클로로메탄은
고시상 STEL 기준 "-" (없음)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7589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B36"/>
                </a:solidFill>
                <a:latin typeface="맑은 고딕"/>
              </a:rPr>
              <a:t>저자 해석: 연구실 취급 시간은 근무시간의 1/4~1/3 → TWA만으로는 과소평가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</a:rPr>
              <a:t>[논문] Table 17 (TWA 44개 평균 vs STEL 17개 평균, 동일인 짝 비교 아님) · 배수는 논문 수치로 계산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예비조사  연구 Ⅱ로 넘어가며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84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맑은 고딕"/>
              </a:rPr>
              <a:t>연결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2918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5F6B7A"/>
                </a:solidFill>
                <a:latin typeface="맑은 고딕"/>
              </a:rPr>
              <a:t>100% 개방 시
0.4 m/s 충족</a:t>
            </a:r>
          </a:p>
          <a:p>
            <a:pPr algn="ctr"/>
            <a:r>
              <a:rPr sz="4800" b="1">
                <a:solidFill>
                  <a:srgbClr val="C0392B"/>
                </a:solidFill>
                <a:latin typeface="맑은 고딕"/>
              </a:rPr>
              <a:t>0대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맑은 고딕"/>
              </a:rPr>
              <a:t>/ 흄후드 44대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371600"/>
            <a:ext cx="72237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6"/>
                </a:solidFill>
                <a:latin typeface="맑은 고딕"/>
              </a:rPr>
              <a:t>• 흄후드 44대 · 배풍기 17대 → 배풍기 1대당 흄후드 1.8~3대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6"/>
                </a:solidFill>
                <a:latin typeface="맑은 고딕"/>
              </a:rPr>
              <a:t>• 실험 공간과 사무 공간 미분리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6"/>
                </a:solidFill>
                <a:latin typeface="맑은 고딕"/>
              </a:rPr>
              <a:t>• 실내 음압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10881360" cy="17373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A5F"/>
                </a:solidFill>
                <a:latin typeface="맑은 고딕"/>
              </a:rPr>
              <a:t>연구 Ⅱ 실험 물질: 아세톤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맑은 고딕"/>
              </a:rPr>
              <a:t>연구 Ⅰ에서 TWA·STEL 평균이 가장 높은 물질 (7.38 / 20.74 ppm)</a:t>
            </a:r>
          </a:p>
          <a:p>
            <a:pPr algn="ctr"/>
            <a:r>
              <a:rPr sz="1300" b="0">
                <a:solidFill>
                  <a:srgbClr val="5F6B7A"/>
                </a:solidFill>
                <a:latin typeface="맑은 고딕"/>
              </a:rPr>
              <a:t>저자의 선정 사유는 확인 불가 (원문 대조 필요)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</a:rPr>
              <a:t>[논문]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연구 Ⅱ  설계 ① 장치와 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84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맑은 고딕"/>
              </a:rPr>
              <a:t>연구 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5120640" cy="288036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F3A5F"/>
                </a:solidFill>
                <a:latin typeface="맑은 고딕"/>
              </a:rPr>
              <a:t>흄후드 개구면 (정면도)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37360"/>
            <a:ext cx="9144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B36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737360"/>
            <a:ext cx="9144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B36"/>
                </a:solidFill>
                <a:latin typeface="맑은 고딕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737360"/>
            <a:ext cx="9144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B36"/>
                </a:solidFill>
                <a:latin typeface="맑은 고딕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737360"/>
            <a:ext cx="9144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B36"/>
                </a:solidFill>
                <a:latin typeface="맑은 고딕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37360"/>
            <a:ext cx="9144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B36"/>
                </a:solidFill>
                <a:latin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90195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9D8F"/>
                </a:solidFill>
                <a:latin typeface="맑은 고딕"/>
              </a:rPr>
              <a:t>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423160"/>
            <a:ext cx="9144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B36"/>
                </a:solidFill>
                <a:latin typeface="맑은 고딕"/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423160"/>
            <a:ext cx="9144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B36"/>
                </a:solidFill>
                <a:latin typeface="맑은 고딕"/>
              </a:rP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423160"/>
            <a:ext cx="9144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B36"/>
                </a:solidFill>
                <a:latin typeface="맑은 고딕"/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423160"/>
            <a:ext cx="9144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B36"/>
                </a:solidFill>
                <a:latin typeface="맑은 고딕"/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423160"/>
            <a:ext cx="9144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B36"/>
                </a:solidFill>
                <a:latin typeface="맑은 고딕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258775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9D8F"/>
                </a:solidFill>
                <a:latin typeface="맑은 고딕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108960"/>
            <a:ext cx="9144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B36"/>
                </a:solidFill>
                <a:latin typeface="맑은 고딕"/>
              </a:rPr>
              <a:t>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3108960"/>
            <a:ext cx="9144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B36"/>
                </a:solidFill>
                <a:latin typeface="맑은 고딕"/>
              </a:rPr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3108960"/>
            <a:ext cx="9144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B36"/>
                </a:solidFill>
                <a:latin typeface="맑은 고딕"/>
              </a:rPr>
              <a:t>13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3108960"/>
            <a:ext cx="9144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B36"/>
                </a:solidFill>
                <a:latin typeface="맑은 고딕"/>
              </a:rPr>
              <a:t>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3108960"/>
            <a:ext cx="9144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B36"/>
                </a:solidFill>
                <a:latin typeface="맑은 고딕"/>
              </a:rP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327355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9D8F"/>
                </a:solidFill>
                <a:latin typeface="맑은 고딕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51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</a:rPr>
              <a:t>← 1,550 mm (격자 310 mm)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</a:rPr>
              <a:t>높이 750 mm (격자 250 mm) · 상단 = 새시 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371600"/>
            <a:ext cx="52120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9D8F"/>
                </a:solidFill>
                <a:latin typeface="맑은 고딕"/>
              </a:rPr>
              <a:t>측정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맑은 고딕"/>
              </a:rPr>
              <a:t>열선풍속계(testo 405) · 거치대 고정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맑은 고딕"/>
              </a:rPr>
              <a:t>격자당 120초 평균 · ANSI/ASHRAE 110-2016 참고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맑은 고딕"/>
              </a:rPr>
              <a:t>발연기로 기류 가시화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A9D8F"/>
                </a:solidFill>
                <a:latin typeface="맑은 고딕"/>
              </a:rPr>
              <a:t>운전 조건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맑은 고딕"/>
              </a:rPr>
              <a:t>배풍기 정속 운전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206240"/>
            <a:ext cx="73152" cy="14630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73952" y="4206240"/>
            <a:ext cx="5138928" cy="14630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2A9D8F"/>
                </a:solidFill>
                <a:latin typeface="맑은 고딕"/>
              </a:rPr>
              <a:t>제어풍속 (Face velocity)</a:t>
            </a:r>
          </a:p>
          <a:p>
            <a:pPr algn="l"/>
            <a:r>
              <a:rPr sz="1200" b="0">
                <a:solidFill>
                  <a:srgbClr val="222B36"/>
                </a:solidFill>
                <a:latin typeface="맑은 고딕"/>
              </a:rPr>
              <a:t>흄후드 개구면에서 측정한 풍속.
포위식·가스 상태 기준 0.4 m/s 이상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</a:rPr>
              <a:t>[논문]  격자 번호 순서(좌→우, 상→하)는 발표자 표기 — 원문 번호 체계 확인 불가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연구 Ⅱ  설계 ② 실험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84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맑은 고딕"/>
              </a:rPr>
              <a:t>연구 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1005840"/>
                <a:gridCol w="100584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새시 개방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기본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장애물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작업자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장애물+작업자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67%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33%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337560"/>
            <a:ext cx="5486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맑은 고딕"/>
              </a:rPr>
              <a:t>• 장애물: 박스 870 × 370 × 300 mm (흄후드 내부)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맑은 고딕"/>
              </a:rPr>
              <a:t>• 작업자: 175 cm 마네킹, 정지 상태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맑은 고딕"/>
              </a:rPr>
              <a:t>• 비커: 1 L에 아세톤 또는 클로로포름 500 mL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맑은 고딕"/>
              </a:rPr>
              <a:t>• 비커 위치: 새시로부터 0 cm / 10 cm 안쪽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맑은 고딕"/>
              </a:rPr>
              <a:t>• PID 측정기(IQ-610Xtra), 30초 간격 5회 평균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463040"/>
            <a:ext cx="2743200" cy="329184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3A5F"/>
                </a:solidFill>
                <a:latin typeface="맑은 고딕"/>
              </a:rPr>
              <a:t>흄후드 (측면도)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4754880"/>
            <a:ext cx="2743200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418320" y="1463040"/>
            <a:ext cx="0" cy="1463040"/>
          </a:xfrm>
          <a:prstGeom prst="line">
            <a:avLst/>
          </a:prstGeom>
          <a:ln w="508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464040" y="19202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3A5F"/>
                </a:solidFill>
                <a:latin typeface="맑은 고딕"/>
              </a:rPr>
              <a:t>새시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4251960"/>
            <a:ext cx="1097280" cy="502920"/>
          </a:xfrm>
          <a:prstGeom prst="rect">
            <a:avLst/>
          </a:prstGeom>
          <a:solidFill>
            <a:srgbClr val="B8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22B36"/>
                </a:solidFill>
                <a:latin typeface="맑은 고딕"/>
              </a:rPr>
              <a:t>장애물</a:t>
            </a:r>
          </a:p>
        </p:txBody>
      </p:sp>
      <p:sp>
        <p:nvSpPr>
          <p:cNvPr id="15" name="Can 14"/>
          <p:cNvSpPr/>
          <p:nvPr/>
        </p:nvSpPr>
        <p:spPr>
          <a:xfrm>
            <a:off x="8915400" y="4343400"/>
            <a:ext cx="411480" cy="411480"/>
          </a:xfrm>
          <a:prstGeom prst="can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22B36"/>
                </a:solidFill>
                <a:latin typeface="맑은 고딕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749039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E09F3E"/>
                </a:solidFill>
                <a:latin typeface="맑은 고딕"/>
              </a:rPr>
              <a:t>비커 0/10 cm</a:t>
            </a:r>
          </a:p>
        </p:txBody>
      </p:sp>
      <p:sp>
        <p:nvSpPr>
          <p:cNvPr id="17" name="Oval 16"/>
          <p:cNvSpPr/>
          <p:nvPr/>
        </p:nvSpPr>
        <p:spPr>
          <a:xfrm>
            <a:off x="9646920" y="3291840"/>
            <a:ext cx="201168" cy="20116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222B36"/>
                </a:solidFill>
                <a:latin typeface="맑은 고딕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971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C0392B"/>
                </a:solidFill>
                <a:latin typeface="맑은 고딕"/>
              </a:rPr>
              <a:t>PID 센서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52044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222B36"/>
                </a:solidFill>
                <a:latin typeface="맑은 고딕"/>
              </a:rPr>
              <a:t>높이 550 mm
새시로부터 75 mm</a:t>
            </a:r>
          </a:p>
        </p:txBody>
      </p:sp>
      <p:sp>
        <p:nvSpPr>
          <p:cNvPr id="20" name="Oval 19"/>
          <p:cNvSpPr/>
          <p:nvPr/>
        </p:nvSpPr>
        <p:spPr>
          <a:xfrm>
            <a:off x="10607040" y="2103120"/>
            <a:ext cx="502920" cy="502920"/>
          </a:xfrm>
          <a:prstGeom prst="ellipse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222B36"/>
                </a:solidFill>
                <a:latin typeface="맑은 고딕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0" y="2651760"/>
            <a:ext cx="685800" cy="2212848"/>
          </a:xfrm>
          <a:prstGeom prst="round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489204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</a:rPr>
              <a:t>마네킹 175 cm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9692640" y="2560320"/>
            <a:ext cx="777240" cy="0"/>
          </a:xfrm>
          <a:prstGeom prst="line">
            <a:avLst/>
          </a:prstGeom>
          <a:ln w="25400">
            <a:solidFill>
              <a:srgbClr val="2A9D8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829800" y="25603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2A9D8F"/>
                </a:solidFill>
                <a:latin typeface="맑은 고딕"/>
              </a:rPr>
              <a:t>기류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</a:rPr>
              <a:t>[논문]  측면 모식도는 발표자 작성(비율 무시). 마네킹–새시 거리는 원문 미기재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연구 Ⅱ  결과 ① 새시 개방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84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맑은 고딕"/>
              </a:rPr>
              <a:t>연구 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14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280160"/>
          <a:ext cx="658368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ectangle 7"/>
          <p:cNvSpPr/>
          <p:nvPr/>
        </p:nvSpPr>
        <p:spPr>
          <a:xfrm>
            <a:off x="7589520" y="1371600"/>
            <a:ext cx="40233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A9D8F"/>
                </a:solidFill>
                <a:latin typeface="맑은 고딕"/>
              </a:rPr>
              <a:t>33% 개방만 기준 충족</a:t>
            </a:r>
          </a:p>
          <a:p>
            <a:pPr algn="ctr"/>
            <a:r>
              <a:rPr sz="1200" b="0">
                <a:solidFill>
                  <a:srgbClr val="5F6B7A"/>
                </a:solidFill>
                <a:latin typeface="맑은 고딕"/>
              </a:rPr>
              <a:t>기준 0.4 m/s 이상 · 기본 조건 평균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2743200"/>
            <a:ext cx="4023360" cy="11887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22B36"/>
                </a:solidFill>
                <a:latin typeface="맑은 고딕"/>
              </a:rPr>
              <a:t>많이 열수록 상하 층 형성</a:t>
            </a:r>
          </a:p>
          <a:p>
            <a:pPr algn="ctr"/>
            <a:r>
              <a:rPr sz="1300" b="0">
                <a:solidFill>
                  <a:srgbClr val="222B36"/>
                </a:solidFill>
                <a:latin typeface="맑은 고딕"/>
              </a:rPr>
              <a:t>상부(A) 빠름 · 하부(C) 느림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4114800"/>
            <a:ext cx="4023360" cy="1645920"/>
          </a:xfrm>
          <a:prstGeom prst="rect">
            <a:avLst/>
          </a:prstGeom>
          <a:solidFill>
            <a:srgbClr val="FFF6E5"/>
          </a:solidFill>
          <a:ln w="1905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09F3E"/>
                </a:solidFill>
                <a:latin typeface="맑은 고딕"/>
              </a:rPr>
              <a:t>풍량은 거의 일정</a:t>
            </a:r>
          </a:p>
          <a:p>
            <a:pPr algn="ctr"/>
            <a:r>
              <a:rPr sz="1300" b="0">
                <a:solidFill>
                  <a:srgbClr val="222B36"/>
                </a:solidFill>
                <a:latin typeface="맑은 고딕"/>
              </a:rPr>
              <a:t>100% 0.19 · 67% 0.20 · 33% 0.20 CMS</a:t>
            </a:r>
          </a:p>
          <a:p>
            <a:pPr algn="ctr"/>
            <a:r>
              <a:rPr sz="1200" b="0">
                <a:solidFill>
                  <a:srgbClr val="5F6B7A"/>
                </a:solidFill>
                <a:latin typeface="맑은 고딕"/>
              </a:rPr>
              <a:t>정속 배풍기 → 열면 풍속만 떨어짐 (복선)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</a:rPr>
              <a:t>[논문] Table 21 (기본 조건 평균).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연구 Ⅱ  결과 ② 장애물·작업자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84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맑은 고딕"/>
              </a:rPr>
              <a:t>연구 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60350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920240"/>
                <a:gridCol w="109728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개방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조건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최소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평균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최대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기본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0.01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0.16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0.24*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장애물+작업자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0.17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0.34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67%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기본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0.15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0.26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0.35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장애물+작업자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0.27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0.53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33%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기본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0.42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0.52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0.60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작업자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맑은 고딕"/>
                        </a:rPr>
                        <a:t>0.12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0.53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0.79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장애물+작업자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맑은 고딕"/>
                        </a:rPr>
                        <a:t>0.01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0.52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0.86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39496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단위 m/s · 장애물 단독 조건은 슬라이드에서 생략 (전체는 Table 21)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37160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F3A5F"/>
                </a:solidFill>
                <a:latin typeface="맑은 고딕"/>
              </a:rPr>
              <a:t>작업자 앞 기류 (평면도 개념)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59" y="1783080"/>
            <a:ext cx="4114800" cy="9144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59" y="1874519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흄후드 내부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23759" y="2697480"/>
            <a:ext cx="4114800" cy="0"/>
          </a:xfrm>
          <a:prstGeom prst="line">
            <a:avLst/>
          </a:prstGeom>
          <a:ln w="508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384280" y="25146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1F3A5F"/>
                </a:solidFill>
                <a:latin typeface="맑은 고딕"/>
              </a:rPr>
              <a:t>새시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498079" y="2788920"/>
            <a:ext cx="0" cy="640080"/>
          </a:xfrm>
          <a:prstGeom prst="line">
            <a:avLst/>
          </a:prstGeom>
          <a:ln w="25400">
            <a:solidFill>
              <a:srgbClr val="2A9D8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955279" y="2788920"/>
            <a:ext cx="0" cy="640080"/>
          </a:xfrm>
          <a:prstGeom prst="line">
            <a:avLst/>
          </a:prstGeom>
          <a:ln w="25400">
            <a:solidFill>
              <a:srgbClr val="2A9D8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607040" y="2788920"/>
            <a:ext cx="0" cy="640080"/>
          </a:xfrm>
          <a:prstGeom prst="line">
            <a:avLst/>
          </a:prstGeom>
          <a:ln w="25400">
            <a:solidFill>
              <a:srgbClr val="2A9D8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064240" y="2788920"/>
            <a:ext cx="0" cy="640080"/>
          </a:xfrm>
          <a:prstGeom prst="line">
            <a:avLst/>
          </a:prstGeom>
          <a:ln w="25400">
            <a:solidFill>
              <a:srgbClr val="2A9D8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ircular Arrow 17"/>
          <p:cNvSpPr/>
          <p:nvPr/>
        </p:nvSpPr>
        <p:spPr>
          <a:xfrm>
            <a:off x="8641080" y="2788920"/>
            <a:ext cx="1280160" cy="914400"/>
          </a:xfrm>
          <a:prstGeom prst="circular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36576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C0392B"/>
                </a:solidFill>
                <a:latin typeface="맑은 고딕"/>
              </a:rPr>
              <a:t>와류 · 0 m/s 정체</a:t>
            </a:r>
          </a:p>
        </p:txBody>
      </p:sp>
      <p:sp>
        <p:nvSpPr>
          <p:cNvPr id="20" name="Oval 19"/>
          <p:cNvSpPr/>
          <p:nvPr/>
        </p:nvSpPr>
        <p:spPr>
          <a:xfrm>
            <a:off x="8549640" y="4023360"/>
            <a:ext cx="1463040" cy="822960"/>
          </a:xfrm>
          <a:prstGeom prst="ellipse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작업자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5029200"/>
            <a:ext cx="4663440" cy="914400"/>
          </a:xfrm>
          <a:prstGeom prst="rect">
            <a:avLst/>
          </a:prstGeom>
          <a:solidFill>
            <a:srgbClr val="FFF6E5"/>
          </a:solidFill>
          <a:ln w="1905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C0392B"/>
                </a:solidFill>
                <a:latin typeface="맑은 고딕"/>
              </a:rPr>
              <a:t>평균은 그대로, 분포가 무너진다</a:t>
            </a:r>
          </a:p>
          <a:p>
            <a:pPr algn="ctr"/>
            <a:r>
              <a:rPr sz="1200" b="0">
                <a:solidFill>
                  <a:srgbClr val="222B36"/>
                </a:solidFill>
                <a:latin typeface="맑은 고딕"/>
              </a:rPr>
              <a:t>저자 해석: 내부 장애물보다 외부 작업자 영향이 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</a:rPr>
              <a:t>[논문] Table 21 · * 본문에는 0.29 m/s로 기재(표와 불일치) · 기류 그림은 발표자 작성 개념도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연구 Ⅱ  결과 ③ 아세톤 노출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84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맑은 고딕"/>
              </a:rPr>
              <a:t>연구 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67665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645920"/>
                <a:gridCol w="164592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조건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100% 개방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67% 개방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33% 개방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B36"/>
                          </a:solidFill>
                          <a:latin typeface="맑은 고딕"/>
                        </a:rPr>
                        <a:t>기본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B36"/>
                          </a:solidFill>
                          <a:latin typeface="맑은 고딕"/>
                        </a:rPr>
                        <a:t>0.06 / 0</a:t>
                      </a:r>
                    </a:p>
                  </a:txBody>
                  <a:tcPr anchor="ctr" marL="45720" marR="45720">
                    <a:solidFill>
                      <a:srgbClr val="FDED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B36"/>
                          </a:solidFill>
                          <a:latin typeface="맑은 고딕"/>
                        </a:rPr>
                        <a:t>0 / 0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B36"/>
                          </a:solidFill>
                          <a:latin typeface="맑은 고딕"/>
                        </a:rPr>
                        <a:t>0 / 0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B36"/>
                          </a:solidFill>
                          <a:latin typeface="맑은 고딕"/>
                        </a:rPr>
                        <a:t>장애물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B36"/>
                          </a:solidFill>
                          <a:latin typeface="맑은 고딕"/>
                        </a:rPr>
                        <a:t>1.35 / 0</a:t>
                      </a:r>
                    </a:p>
                  </a:txBody>
                  <a:tcPr anchor="ctr" marL="45720" marR="45720">
                    <a:solidFill>
                      <a:srgbClr val="F6C2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B36"/>
                          </a:solidFill>
                          <a:latin typeface="맑은 고딕"/>
                        </a:rPr>
                        <a:t>0 / 0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B36"/>
                          </a:solidFill>
                          <a:latin typeface="맑은 고딕"/>
                        </a:rPr>
                        <a:t>0 / 0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B36"/>
                          </a:solidFill>
                          <a:latin typeface="맑은 고딕"/>
                        </a:rPr>
                        <a:t>작업자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B36"/>
                          </a:solidFill>
                          <a:latin typeface="맑은 고딕"/>
                        </a:rPr>
                        <a:t>7.36 / 5.42</a:t>
                      </a:r>
                    </a:p>
                  </a:txBody>
                  <a:tcPr anchor="ctr" marL="45720" marR="45720">
                    <a:solidFill>
                      <a:srgbClr val="E882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B36"/>
                          </a:solidFill>
                          <a:latin typeface="맑은 고딕"/>
                        </a:rPr>
                        <a:t>0.58 / 0.1</a:t>
                      </a:r>
                    </a:p>
                  </a:txBody>
                  <a:tcPr anchor="ctr" marL="45720" marR="45720">
                    <a:solidFill>
                      <a:srgbClr val="FDED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B36"/>
                          </a:solidFill>
                          <a:latin typeface="맑은 고딕"/>
                        </a:rPr>
                        <a:t>0 / 0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B36"/>
                          </a:solidFill>
                          <a:latin typeface="맑은 고딕"/>
                        </a:rPr>
                        <a:t>장애물+작업자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38.42 / 27.24</a:t>
                      </a:r>
                    </a:p>
                  </a:txBody>
                  <a:tcPr anchor="ctr" marL="45720" marR="45720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B36"/>
                          </a:solidFill>
                          <a:latin typeface="맑은 고딕"/>
                        </a:rPr>
                        <a:t>3.94 / 2.42</a:t>
                      </a:r>
                    </a:p>
                  </a:txBody>
                  <a:tcPr anchor="ctr" marL="45720" marR="45720">
                    <a:solidFill>
                      <a:srgbClr val="F6C2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0392B"/>
                          </a:solidFill>
                          <a:latin typeface="맑은 고딕"/>
                        </a:rPr>
                        <a:t>0.38 / 0</a:t>
                      </a:r>
                    </a:p>
                  </a:txBody>
                  <a:tcPr anchor="ctr" marL="45720" marR="45720">
                    <a:solidFill>
                      <a:srgbClr val="FDEDD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70916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</a:rPr>
              <a:t>단위 ppm · 각 칸 = 비커 0 cm / 10 cm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371600"/>
            <a:ext cx="4023360" cy="1737360"/>
          </a:xfrm>
          <a:prstGeom prst="rect">
            <a:avLst/>
          </a:prstGeom>
          <a:solidFill>
            <a:srgbClr val="FFF6E5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C0392B"/>
                </a:solidFill>
                <a:latin typeface="맑은 고딕"/>
              </a:rPr>
              <a:t>기준 풍속을 충족해도 노출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맑은 고딕"/>
              </a:rPr>
              <a:t>33% 개방(평균 0.53 m/s)
장애물+작업자 → 0.38 ppm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3246120"/>
            <a:ext cx="4023360" cy="9144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22B36"/>
                </a:solidFill>
                <a:latin typeface="맑은 고딕"/>
              </a:rPr>
              <a:t>새시 하강: 38.42 → 0.38 ppm</a:t>
            </a:r>
          </a:p>
          <a:p>
            <a:pPr algn="ctr"/>
            <a:r>
              <a:rPr sz="1400" b="1">
                <a:solidFill>
                  <a:srgbClr val="222B36"/>
                </a:solidFill>
                <a:latin typeface="맑은 고딕"/>
              </a:rPr>
              <a:t>안쪽 10 cm: 38.42 → 27.24 ppm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4297680"/>
            <a:ext cx="4023360" cy="14630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22B36"/>
                </a:solidFill>
                <a:latin typeface="맑은 고딕"/>
              </a:rPr>
              <a:t>작업자 &gt; 장애물 (풍속 비슷해도 5.5배)</a:t>
            </a:r>
          </a:p>
          <a:p>
            <a:pPr algn="ctr"/>
            <a:r>
              <a:rPr sz="1300" b="0">
                <a:solidFill>
                  <a:srgbClr val="222B36"/>
                </a:solidFill>
                <a:latin typeface="맑은 고딕"/>
              </a:rPr>
              <a:t>아세톤/클로로포름 비율 0.76~1.34 불규칙</a:t>
            </a:r>
          </a:p>
          <a:p>
            <a:pPr algn="ctr"/>
            <a:r>
              <a:rPr sz="1300" b="1">
                <a:solidFill>
                  <a:srgbClr val="222B36"/>
                </a:solidFill>
                <a:latin typeface="맑은 고딕"/>
              </a:rPr>
              <a:t>→ 분자량보다 기류가 노출을 지배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</a:rPr>
              <a:t>[논문] Table 22 (아세톤), Table 23 (분자량 비교)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저자 결론과 제언 4가지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84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맑은 고딕"/>
              </a:rPr>
              <a:t>결론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06040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①  TWA·STEL 병행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2606040" cy="21031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22B36"/>
                </a:solidFill>
                <a:latin typeface="맑은 고딕"/>
              </a:rPr>
              <a:t>CMR 물질은 STEL 측정 의무화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417320"/>
            <a:ext cx="2606040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②  전면 공간 확보·SOP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2148840"/>
            <a:ext cx="2606040" cy="21031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22B36"/>
                </a:solidFill>
                <a:latin typeface="맑은 고딕"/>
              </a:rPr>
              <a:t>새시 전면 공간 확보, 국가 차원 흄후드 사용 SOP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1417320"/>
            <a:ext cx="2606040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③  인버터 설치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2148840"/>
            <a:ext cx="2606040" cy="21031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22B36"/>
                </a:solidFill>
                <a:latin typeface="맑은 고딕"/>
              </a:rPr>
              <a:t>배풍기에 인버터 → 개방과 무관하게 제어풍속 유지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97696" y="1417320"/>
            <a:ext cx="2606040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④  안쪽 취급·새시 하강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97696" y="2148840"/>
            <a:ext cx="2606040" cy="21031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22B36"/>
                </a:solidFill>
                <a:latin typeface="맑은 고딕"/>
              </a:rPr>
              <a:t>화학물질을 흄후드 안쪽 깊이 두고 사용, 외부 와류 방지 공간 확보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11064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A9D8F"/>
                </a:solidFill>
                <a:latin typeface="맑은 고딕"/>
              </a:rPr>
              <a:t>최종 목표</a:t>
            </a:r>
          </a:p>
          <a:p>
            <a:pPr algn="ctr"/>
            <a:r>
              <a:rPr sz="1600" b="1">
                <a:solidFill>
                  <a:srgbClr val="222B36"/>
                </a:solidFill>
                <a:latin typeface="맑은 고딕"/>
              </a:rPr>
              <a:t>연구실 특성을 반영한 노출도평가 기준과 흄후드 설치·사용 기준 제정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</a:rPr>
              <a:t>[논문] 109~110쪽 결론 · ④의 "새시 최대한 하강"은 영문 초록 표현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비판적 고찰 ① 제언 검증표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84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맑은 고딕"/>
              </a:rPr>
              <a:t>비판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6675120"/>
              </a:tblGrid>
              <a:tr h="76809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제언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실험 근거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판단 이유</a:t>
                      </a:r>
                    </a:p>
                  </a:txBody>
                  <a:tcPr anchor="ctr" marL="45720" marR="45720">
                    <a:solidFill>
                      <a:srgbClr val="1F3A5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B36"/>
                          </a:solidFill>
                          <a:latin typeface="맑은 고딕"/>
                        </a:rPr>
                        <a:t>① TWA·STEL 병행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09F3E"/>
                          </a:solidFill>
                          <a:latin typeface="맑은 고딕"/>
                        </a:rPr>
                        <a:t>◐ 부분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B36"/>
                          </a:solidFill>
                          <a:latin typeface="맑은 고딕"/>
                        </a:rPr>
                        <a:t>STEL이 높다는 데이터는 있으나 짝지은 비교·장단점 평가 없음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B36"/>
                          </a:solidFill>
                          <a:latin typeface="맑은 고딕"/>
                        </a:rPr>
                        <a:t>② 전면 공간·SOP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맑은 고딕"/>
                        </a:rPr>
                        <a:t>○ 없음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B36"/>
                          </a:solidFill>
                          <a:latin typeface="맑은 고딕"/>
                        </a:rPr>
                        <a:t>제언 대상(타인 통행·교차기류)을 실험하지 않음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B36"/>
                          </a:solidFill>
                          <a:latin typeface="맑은 고딕"/>
                        </a:rPr>
                        <a:t>③ 인버터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맑은 고딕"/>
                        </a:rPr>
                        <a:t>○ 없음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B36"/>
                          </a:solidFill>
                          <a:latin typeface="맑은 고딕"/>
                        </a:rPr>
                        <a:t>정속 운전으로만 실험, 인버터 조건 없음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B36"/>
                          </a:solidFill>
                          <a:latin typeface="맑은 고딕"/>
                        </a:rPr>
                        <a:t>④ 안쪽 취급·새시 하강</a:t>
                      </a:r>
                    </a:p>
                  </a:txBody>
                  <a:tcPr anchor="ctr" marL="45720" marR="45720">
                    <a:solidFill>
                      <a:srgbClr val="DF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A9D8F"/>
                          </a:solidFill>
                          <a:latin typeface="맑은 고딕"/>
                        </a:rPr>
                        <a:t>● 지지</a:t>
                      </a:r>
                    </a:p>
                  </a:txBody>
                  <a:tcPr anchor="ctr" marL="45720" marR="45720">
                    <a:solidFill>
                      <a:srgbClr val="DF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B36"/>
                          </a:solidFill>
                          <a:latin typeface="맑은 고딕"/>
                        </a:rPr>
                        <a:t>0→10 cm: 38.42→27.24 ppm</a:t>
                      </a:r>
                    </a:p>
                    <a:p>
                      <a:pPr algn="ctr"/>
                      <a:r>
                        <a:rPr sz="1500">
                          <a:solidFill>
                            <a:srgbClr val="222B36"/>
                          </a:solidFill>
                          <a:latin typeface="맑은 고딕"/>
                        </a:rPr>
                        <a:t>100→33%: 38.42→0.38 ppm</a:t>
                      </a:r>
                    </a:p>
                  </a:txBody>
                  <a:tcPr anchor="ctr" marL="45720" marR="45720">
                    <a:solidFill>
                      <a:srgbClr val="DFF3E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데이터로 직접 지지되는 제언은 ④ 하나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</a:rPr>
              <a:t>● 데이터로 지지 · ◐ 부분 지지 · ○ 근거 없음 — 발표자 평가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비판적 고찰 ② 제언 ①~③의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84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맑은 고딕"/>
              </a:rPr>
              <a:t>비판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520440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① TWA·STEL 병행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3520440" cy="40233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2918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B36"/>
                </a:solidFill>
                <a:latin typeface="맑은 고딕"/>
              </a:rPr>
              <a:t>• 클로로포름·디클로로메탄 STEL 기준 "-" → 의무화해도 판정 불가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B36"/>
                </a:solidFill>
                <a:latin typeface="맑은 고딕"/>
              </a:rPr>
              <a:t>• STEL 포집 20분 (기준 15분)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B36"/>
                </a:solidFill>
                <a:latin typeface="맑은 고딕"/>
              </a:rPr>
              <a:t>• TWA 44 vs STEL 17 평균 비교 — 짝 비교 아님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B36"/>
                </a:solidFill>
                <a:latin typeface="맑은 고딕"/>
              </a:rPr>
              <a:t>• 초산에틸은 STEL이 더 낮음 ("7종 모두 STEL이 큼"과 모순)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371600"/>
            <a:ext cx="3520440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② 전면 공간·SOP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965960"/>
            <a:ext cx="3520440" cy="40233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148840"/>
            <a:ext cx="32918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B36"/>
                </a:solidFill>
                <a:latin typeface="맑은 고딕"/>
              </a:rPr>
              <a:t>• 제언 대상: 타인 통행·교차기류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B36"/>
                </a:solidFill>
                <a:latin typeface="맑은 고딕"/>
              </a:rPr>
              <a:t>• 실험 대상: 작업자 본인의 존재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B36"/>
                </a:solidFill>
                <a:latin typeface="맑은 고딕"/>
              </a:rPr>
              <a:t>• 교차기류 실험 없음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B36"/>
                </a:solidFill>
                <a:latin typeface="맑은 고딕"/>
              </a:rPr>
              <a:t>• 정지 마네킹, 마네킹–새시 거리 미기재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371600"/>
            <a:ext cx="3520440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③ 인버터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965960"/>
            <a:ext cx="3520440" cy="40233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148840"/>
            <a:ext cx="32918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B36"/>
                </a:solidFill>
                <a:latin typeface="맑은 고딕"/>
              </a:rPr>
              <a:t>• 인버터 미실험 (정속 운전만)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B36"/>
                </a:solidFill>
                <a:latin typeface="맑은 고딕"/>
              </a:rPr>
              <a:t>• 100% 개방에서 0.4 m/s 유지 → 약 0.47 CMS, 현재의 약 2.4배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B36"/>
                </a:solidFill>
                <a:latin typeface="맑은 고딕"/>
              </a:rPr>
              <a:t>• 급기 부족·음압·에너지 문제와 충돌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B36"/>
                </a:solidFill>
                <a:latin typeface="맑은 고딕"/>
              </a:rPr>
              <a:t>• 33% 개방(0.52 m/s)에서도 노출 → 풍속 유지만으로 불충분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</a:rPr>
              <a:t>[논문] 33·43·46·47·63·110쪽 · 0.47 CMS·2.4배는 발표자 계산(0.4 m/s × 개구면 1.55 × 0.75 m ≈ 0.47 m³/s, 현재 0.19 CMS 대비)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비판적 고찰 ③ 방법론과 서술 오류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84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맑은 고딕"/>
              </a:rPr>
              <a:t>비판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방법론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1206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B36"/>
                </a:solidFill>
                <a:latin typeface="맑은 고딕"/>
              </a:rPr>
              <a:t>• 흄후드 1대, 조건별 단회 측정, 통계 검정 없음 → 일반화 한계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B36"/>
                </a:solidFill>
                <a:latin typeface="맑은 고딕"/>
              </a:rPr>
              <a:t>• 정지 마네킹 (손 넣기·움직임 없음)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B36"/>
                </a:solidFill>
                <a:latin typeface="맑은 고딕"/>
              </a:rPr>
              <a:t>• 비커 자연증발만 — 실제 가열·교반은 더 열악할 수 있음 (저자도 언급)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B36"/>
                </a:solidFill>
                <a:latin typeface="맑은 고딕"/>
              </a:rPr>
              <a:t>• 열선풍속계는 역류 방향 구분 불가 (저자도 언급)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9496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서술 오류 (원문 대조)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2011680"/>
          <a:ext cx="53949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023360"/>
              </a:tblGrid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 marL="45720" marR="45720">
                    <a:solidFill>
                      <a:srgbClr val="5F6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 marL="45720" marR="45720">
                    <a:solidFill>
                      <a:srgbClr val="5F6B7A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맑은 고딕"/>
                        </a:rPr>
                        <a:t>노말헥산 기준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Table 14: TWA 500 ppm (고시·Table 5: 50 ppm)</a:t>
                      </a:r>
                    </a:p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→ 0.95%로 평가, 올바른 기준이면 약 19%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Graham 법칙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68쪽 "약 0.5배 빠름" vs 105쪽 "1.43배 빠름"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표 번호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본문 Table 26 → 실제 23 / Table 21 → 실제 16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수치 불일치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기본 100% 최대: 본문 0.29 vs 표 0.24 m/s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결론 문장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"7종 모두 STEL이 큼" vs 초산에틸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분류 표기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B36"/>
                          </a:solidFill>
                          <a:latin typeface="맑은 고딕"/>
                        </a:rPr>
                        <a:t>디클로로메탄 "group 2" vs "구분 1B" (체계 미기재)</a:t>
                      </a:r>
                    </a:p>
                  </a:txBody>
                  <a:tcPr anchor="ctr" marL="45720" marR="4572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</a:rPr>
              <a:t>[논문]  노말헥산 19%는 9.48 ppm(STEL 측정값) ÷ 50 ppm로 발표자 계산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맑은 고딕"/>
              </a:rPr>
              <a:t>요약 · 시사점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840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맑은 고딕"/>
              </a:rPr>
              <a:t>마무리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3A5F"/>
                </a:solidFill>
                <a:latin typeface="맑은 고딕"/>
              </a:rPr>
              <a:t>"기준 풍속을 충족해도 노출될 수 있다"</a:t>
            </a:r>
          </a:p>
          <a:p>
            <a:pPr algn="ctr"/>
            <a:r>
              <a:rPr sz="1500" b="0">
                <a:solidFill>
                  <a:srgbClr val="222B36"/>
                </a:solidFill>
                <a:latin typeface="맑은 고딕"/>
              </a:rPr>
              <a:t>작업자·장애물을 반영한 실측으로 이를 보였다는 점이 이 논문의 의의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53949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0392B"/>
                </a:solidFill>
                <a:latin typeface="맑은 고딕"/>
              </a:rPr>
              <a:t>한계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맑은 고딕"/>
              </a:rPr>
              <a:t>제언 4개 중 데이터로 직접 지지되는 것은
④ 안쪽 취급·새시 하강뿐</a:t>
            </a:r>
          </a:p>
          <a:p>
            <a:pPr algn="ctr"/>
            <a:r>
              <a:rPr sz="1300" b="0">
                <a:solidFill>
                  <a:srgbClr val="5F6B7A"/>
                </a:solidFill>
                <a:latin typeface="맑은 고딕"/>
              </a:rPr>
              <a:t>①·②·③은 비교 설계나 검증 실험 없이 제시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926080"/>
            <a:ext cx="53949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A9D8F"/>
                </a:solidFill>
                <a:latin typeface="맑은 고딕"/>
              </a:rPr>
              <a:t>후속 연구 방향 (발표자 제안)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맑은 고딕"/>
              </a:rPr>
              <a:t>교차기류·움직이는 작업자 실험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맑은 고딕"/>
              </a:rPr>
              <a:t>인버터 운전 조건 비교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맑은 고딕"/>
              </a:rPr>
              <a:t>흄후드 여러 대 · 반복 측정 · 통계 검정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